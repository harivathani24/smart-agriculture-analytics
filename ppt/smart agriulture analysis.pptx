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56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9B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59681" y="2212386"/>
            <a:ext cx="96726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dirty="0">
                <a:solidFill>
                  <a:srgbClr val="F5F7FA"/>
                </a:solidFill>
                <a:latin typeface="Aptos Display"/>
              </a:rPr>
              <a:t>SMART AGRICULTURE</a:t>
            </a:r>
            <a:r>
              <a:rPr lang="en-US" sz="4000" b="1" dirty="0">
                <a:solidFill>
                  <a:srgbClr val="F5F7FA"/>
                </a:solidFill>
                <a:latin typeface="Aptos Display"/>
              </a:rPr>
              <a:t> </a:t>
            </a:r>
            <a:r>
              <a:rPr sz="4000" b="1" dirty="0">
                <a:solidFill>
                  <a:srgbClr val="F5F7FA"/>
                </a:solidFill>
                <a:latin typeface="Aptos Display"/>
              </a:rPr>
              <a:t>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28343" y="3023903"/>
            <a:ext cx="701050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/>
              <a:t>A </a:t>
            </a:r>
            <a:r>
              <a:rPr lang="en-US" dirty="0">
                <a:highlight>
                  <a:srgbClr val="C0C0C0"/>
                </a:highlight>
              </a:rPr>
              <a:t>Data Analytics &amp; Machine Learning Based Agricultural Analytics System</a:t>
            </a:r>
          </a:p>
          <a:p>
            <a:pPr algn="ctr"/>
            <a:endParaRPr dirty="0">
              <a:highlight>
                <a:srgbClr val="C0C0C0"/>
              </a:highligh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00938" y="3877496"/>
            <a:ext cx="4586287" cy="24634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endParaRPr dirty="0"/>
          </a:p>
          <a:p>
            <a:pPr algn="ctr">
              <a:lnSpc>
                <a:spcPct val="200000"/>
              </a:lnSpc>
            </a:pPr>
            <a:r>
              <a:rPr sz="2400" b="1" dirty="0">
                <a:solidFill>
                  <a:srgbClr val="F5F7FA"/>
                </a:solidFill>
                <a:latin typeface="Aptos"/>
              </a:rPr>
              <a:t>HARIVATHANI A</a:t>
            </a:r>
          </a:p>
          <a:p>
            <a:pPr algn="ctr">
              <a:lnSpc>
                <a:spcPct val="200000"/>
              </a:lnSpc>
            </a:pPr>
            <a:r>
              <a:rPr sz="1600" b="1" dirty="0">
                <a:solidFill>
                  <a:srgbClr val="B1BBC8"/>
                </a:solidFill>
                <a:latin typeface="Aptos"/>
              </a:rPr>
              <a:t>Master of Science in Computer Science</a:t>
            </a:r>
          </a:p>
          <a:p>
            <a:pPr algn="ctr">
              <a:lnSpc>
                <a:spcPct val="200000"/>
              </a:lnSpc>
            </a:pPr>
            <a:r>
              <a:rPr sz="1600" b="1" dirty="0">
                <a:solidFill>
                  <a:srgbClr val="F5BE37"/>
                </a:solidFill>
                <a:latin typeface="Aptos"/>
              </a:rPr>
              <a:t>Madurai Kamaraj University</a:t>
            </a:r>
          </a:p>
          <a:p>
            <a:pPr algn="ctr">
              <a:lnSpc>
                <a:spcPct val="200000"/>
              </a:lnSpc>
            </a:pPr>
            <a:r>
              <a:rPr sz="1400" b="1" dirty="0">
                <a:solidFill>
                  <a:srgbClr val="B1BBC8"/>
                </a:solidFill>
                <a:latin typeface="Aptos"/>
              </a:rPr>
              <a:t>2025–2026</a:t>
            </a:r>
            <a:endParaRPr sz="1200" b="1" dirty="0">
              <a:solidFill>
                <a:srgbClr val="B1BBC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286591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rPr sz="2000" dirty="0"/>
              <a:t>• Agricultural productivity depends on soil, weather, irrigation, crop, season and management factors.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rPr sz="2000" dirty="0"/>
              <a:t>• Large agricultural datasets are difficult to interpret manually.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rPr sz="2000" dirty="0"/>
              <a:t>• Data analytics converts raw records into meaningful patterns and insights.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rPr sz="2000" dirty="0"/>
              <a:t>• Machine learning can support crop recommendation and yield prediction.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rPr sz="2000" dirty="0"/>
              <a:t>• This project integrates analytics, SQL, ML and an interactive </a:t>
            </a:r>
            <a:r>
              <a:rPr sz="2000" dirty="0" err="1"/>
              <a:t>Streamlit</a:t>
            </a:r>
            <a:r>
              <a:rPr sz="2000" dirty="0"/>
              <a:t> dashboard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B1BBC8"/>
                </a:solidFill>
                <a:latin typeface="Aptos"/>
              </a:rPr>
              <a:t>HARIVATHANI A  •  Smart Agriculture Analytics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359688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just">
              <a:lnSpc>
                <a:spcPct val="200000"/>
              </a:lnSpc>
              <a:spcAft>
                <a:spcPts val="10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rPr sz="2000" dirty="0"/>
              <a:t>• Raw agricultural data contains many variables and thousands of records.</a:t>
            </a:r>
          </a:p>
          <a:p>
            <a:pPr algn="just">
              <a:lnSpc>
                <a:spcPct val="200000"/>
              </a:lnSpc>
              <a:spcAft>
                <a:spcPts val="10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rPr sz="2000" dirty="0"/>
              <a:t>• Manual analysis is time-consuming and makes pattern identification difficult.</a:t>
            </a:r>
          </a:p>
          <a:p>
            <a:pPr algn="just">
              <a:lnSpc>
                <a:spcPct val="200000"/>
              </a:lnSpc>
              <a:spcAft>
                <a:spcPts val="10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rPr sz="2000" dirty="0"/>
              <a:t>• Data cleaning, visualization, database analysis and prediction are often separated across tools.</a:t>
            </a:r>
          </a:p>
          <a:p>
            <a:pPr algn="just">
              <a:lnSpc>
                <a:spcPct val="200000"/>
              </a:lnSpc>
              <a:spcAft>
                <a:spcPts val="10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rPr sz="2000" dirty="0"/>
              <a:t>• Users need a single platform to explore agricultural data and obtain analytical predictions.</a:t>
            </a:r>
          </a:p>
          <a:p>
            <a:pPr algn="just">
              <a:lnSpc>
                <a:spcPct val="200000"/>
              </a:lnSpc>
              <a:spcAft>
                <a:spcPts val="10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rPr sz="2000" dirty="0"/>
              <a:t>• The project addresses this by building an integrated agricultural analytics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B1BBC8"/>
                </a:solidFill>
                <a:latin typeface="Aptos"/>
              </a:rPr>
              <a:t>HARIVATHANI A  •  Smart Agriculture Analytics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3.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87338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200000"/>
              </a:lnSpc>
              <a:spcAft>
                <a:spcPts val="10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rPr dirty="0"/>
              <a:t>• Clean and preprocess agricultural data.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rPr dirty="0"/>
              <a:t>• Perform exploratory data analysis and visualization.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rPr dirty="0"/>
              <a:t>• Store agricultural records in SQLite.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rPr dirty="0"/>
              <a:t>• Perform SQL-based crop, state, season and irrigation analysis.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rPr dirty="0"/>
              <a:t>• Build a Random Forest model for crop recommendation.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rPr dirty="0"/>
              <a:t>• Build a Random Forest model for yield prediction.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rPr dirty="0"/>
              <a:t>• Develop an interactive </a:t>
            </a:r>
            <a:r>
              <a:rPr dirty="0" err="1"/>
              <a:t>Streamlit</a:t>
            </a:r>
            <a:r>
              <a:rPr dirty="0"/>
              <a:t> dashboard.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B1BBC8"/>
                </a:solidFill>
                <a:latin typeface="Aptos"/>
              </a:rPr>
              <a:t>HARIVATHANI A  •  Smart Agriculture Analytics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4. Existing vs Proposed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257800" cy="4297680"/>
          </a:xfrm>
          <a:prstGeom prst="roundRect">
            <a:avLst/>
          </a:prstGeom>
          <a:solidFill>
            <a:srgbClr val="181F29"/>
          </a:solidFill>
          <a:ln>
            <a:solidFill>
              <a:srgbClr val="343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64008" cy="4297680"/>
          </a:xfrm>
          <a:prstGeom prst="rect">
            <a:avLst/>
          </a:prstGeom>
          <a:solidFill>
            <a:srgbClr val="4D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18488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1BBC8"/>
                </a:solidFill>
                <a:latin typeface="Aptos"/>
              </a:rPr>
              <a:t>EXISTING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84248"/>
            <a:ext cx="4846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  <a:latin typeface="Aptos Display"/>
              </a:rPr>
              <a:t>Separate / manual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24328"/>
            <a:ext cx="475488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rPr dirty="0"/>
              <a:t>• Raw datasets and spreadsheets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rPr dirty="0"/>
              <a:t>• Manual calculations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rPr dirty="0"/>
              <a:t>• Separate visualization tools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rPr dirty="0"/>
              <a:t>• Limited integrated prediction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rPr dirty="0"/>
              <a:t>• Results distributed across files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57800" cy="4297680"/>
          </a:xfrm>
          <a:prstGeom prst="roundRect">
            <a:avLst/>
          </a:prstGeom>
          <a:solidFill>
            <a:srgbClr val="181F29"/>
          </a:solidFill>
          <a:ln>
            <a:solidFill>
              <a:srgbClr val="343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64008" cy="4297680"/>
          </a:xfrm>
          <a:prstGeom prst="rect">
            <a:avLst/>
          </a:prstGeom>
          <a:solidFill>
            <a:srgbClr val="39B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618488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1BBC8"/>
                </a:solidFill>
                <a:latin typeface="Aptos"/>
              </a:rPr>
              <a:t>PROPOSED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84248"/>
            <a:ext cx="4846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  <a:latin typeface="Aptos Display"/>
              </a:rPr>
              <a:t>Integrated analytics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514600"/>
            <a:ext cx="475488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rPr dirty="0"/>
              <a:t>• Automated data preparation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rPr dirty="0"/>
              <a:t>• EDA and interactive charts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rPr dirty="0"/>
              <a:t>• SQLite + SQL analytics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rPr dirty="0"/>
              <a:t>• Crop recommendation + yield prediction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rPr dirty="0"/>
              <a:t>• Single </a:t>
            </a:r>
            <a:r>
              <a:rPr dirty="0" err="1"/>
              <a:t>Streamlit</a:t>
            </a:r>
            <a:r>
              <a:rPr dirty="0"/>
              <a:t> interface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B1BBC8"/>
                </a:solidFill>
                <a:latin typeface="Aptos"/>
              </a:rPr>
              <a:t>HARIVATHANI A  •  Smart Agriculture Analytics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5. Technologies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429000" cy="1115568"/>
          </a:xfrm>
          <a:prstGeom prst="roundRect">
            <a:avLst/>
          </a:prstGeom>
          <a:solidFill>
            <a:srgbClr val="181F29"/>
          </a:solidFill>
          <a:ln>
            <a:solidFill>
              <a:srgbClr val="343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64008" cy="1115568"/>
          </a:xfrm>
          <a:prstGeom prst="rect">
            <a:avLst/>
          </a:prstGeom>
          <a:solidFill>
            <a:srgbClr val="4D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18488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1BBC8"/>
                </a:solidFill>
                <a:latin typeface="Aptos"/>
              </a:rPr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84248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  <a:latin typeface="Aptos Display"/>
              </a:rPr>
              <a:t>Core development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17320"/>
            <a:ext cx="3429000" cy="1115568"/>
          </a:xfrm>
          <a:prstGeom prst="roundRect">
            <a:avLst/>
          </a:prstGeom>
          <a:solidFill>
            <a:srgbClr val="181F29"/>
          </a:solidFill>
          <a:ln>
            <a:solidFill>
              <a:srgbClr val="343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80560" y="1417320"/>
            <a:ext cx="64008" cy="1115568"/>
          </a:xfrm>
          <a:prstGeom prst="rect">
            <a:avLst/>
          </a:prstGeom>
          <a:solidFill>
            <a:srgbClr val="39B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60" y="1618488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1BBC8"/>
                </a:solidFill>
                <a:latin typeface="Aptos"/>
              </a:rPr>
              <a:t>Pandas / NumPy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984248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  <a:latin typeface="Aptos Display"/>
              </a:rPr>
              <a:t>Data processing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417320"/>
            <a:ext cx="3429000" cy="1115568"/>
          </a:xfrm>
          <a:prstGeom prst="roundRect">
            <a:avLst/>
          </a:prstGeom>
          <a:solidFill>
            <a:srgbClr val="181F29"/>
          </a:solidFill>
          <a:ln>
            <a:solidFill>
              <a:srgbClr val="343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75320" y="1417320"/>
            <a:ext cx="64008" cy="1115568"/>
          </a:xfrm>
          <a:prstGeom prst="rect">
            <a:avLst/>
          </a:prstGeom>
          <a:solidFill>
            <a:srgbClr val="F5B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0" y="1618488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1BBC8"/>
                </a:solidFill>
                <a:latin typeface="Aptos"/>
              </a:rPr>
              <a:t>Matplotlib / Seaborn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984248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  <a:latin typeface="Aptos Display"/>
              </a:rPr>
              <a:t>Visualization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834640"/>
            <a:ext cx="3429000" cy="1115568"/>
          </a:xfrm>
          <a:prstGeom prst="roundRect">
            <a:avLst/>
          </a:prstGeom>
          <a:solidFill>
            <a:srgbClr val="181F29"/>
          </a:solidFill>
          <a:ln>
            <a:solidFill>
              <a:srgbClr val="343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2834640"/>
            <a:ext cx="64008" cy="1115568"/>
          </a:xfrm>
          <a:prstGeom prst="rect">
            <a:avLst/>
          </a:prstGeom>
          <a:solidFill>
            <a:srgbClr val="4D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035808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1BBC8"/>
                </a:solidFill>
                <a:latin typeface="Aptos"/>
              </a:rPr>
              <a:t>SQLite / 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401568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  <a:latin typeface="Aptos Display"/>
              </a:rPr>
              <a:t>Database &amp; analytics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2834640"/>
            <a:ext cx="3429000" cy="1115568"/>
          </a:xfrm>
          <a:prstGeom prst="roundRect">
            <a:avLst/>
          </a:prstGeom>
          <a:solidFill>
            <a:srgbClr val="181F29"/>
          </a:solidFill>
          <a:ln>
            <a:solidFill>
              <a:srgbClr val="343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80560" y="2834640"/>
            <a:ext cx="64008" cy="1115568"/>
          </a:xfrm>
          <a:prstGeom prst="rect">
            <a:avLst/>
          </a:prstGeom>
          <a:solidFill>
            <a:srgbClr val="39B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09160" y="3035808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1BBC8"/>
                </a:solidFill>
                <a:latin typeface="Aptos"/>
              </a:rPr>
              <a:t>Scikit-learn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3401568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  <a:latin typeface="Aptos Display"/>
              </a:rPr>
              <a:t>Machine learning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2834640"/>
            <a:ext cx="3429000" cy="1115568"/>
          </a:xfrm>
          <a:prstGeom prst="roundRect">
            <a:avLst/>
          </a:prstGeom>
          <a:solidFill>
            <a:srgbClr val="181F29"/>
          </a:solidFill>
          <a:ln>
            <a:solidFill>
              <a:srgbClr val="343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75320" y="2834640"/>
            <a:ext cx="64008" cy="1115568"/>
          </a:xfrm>
          <a:prstGeom prst="rect">
            <a:avLst/>
          </a:prstGeom>
          <a:solidFill>
            <a:srgbClr val="F5B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03920" y="3035808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1BBC8"/>
                </a:solidFill>
                <a:latin typeface="Aptos"/>
              </a:rPr>
              <a:t>Random Forest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401568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  <a:latin typeface="Aptos Display"/>
              </a:rPr>
              <a:t>Classification &amp; regression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251960"/>
            <a:ext cx="3429000" cy="1115568"/>
          </a:xfrm>
          <a:prstGeom prst="roundRect">
            <a:avLst/>
          </a:prstGeom>
          <a:solidFill>
            <a:srgbClr val="181F29"/>
          </a:solidFill>
          <a:ln>
            <a:solidFill>
              <a:srgbClr val="343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85800" y="4251960"/>
            <a:ext cx="64008" cy="1115568"/>
          </a:xfrm>
          <a:prstGeom prst="rect">
            <a:avLst/>
          </a:prstGeom>
          <a:solidFill>
            <a:srgbClr val="4D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4453128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1BBC8"/>
                </a:solidFill>
                <a:latin typeface="Aptos"/>
              </a:rPr>
              <a:t>Joblib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818888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  <a:latin typeface="Aptos Display"/>
              </a:rPr>
              <a:t>Model persistence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80560" y="4251960"/>
            <a:ext cx="3429000" cy="1115568"/>
          </a:xfrm>
          <a:prstGeom prst="roundRect">
            <a:avLst/>
          </a:prstGeom>
          <a:solidFill>
            <a:srgbClr val="181F29"/>
          </a:solidFill>
          <a:ln>
            <a:solidFill>
              <a:srgbClr val="343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480560" y="4251960"/>
            <a:ext cx="64008" cy="1115568"/>
          </a:xfrm>
          <a:prstGeom prst="rect">
            <a:avLst/>
          </a:prstGeom>
          <a:solidFill>
            <a:srgbClr val="39B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09160" y="4453128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1BBC8"/>
                </a:solidFill>
                <a:latin typeface="Aptos"/>
              </a:rPr>
              <a:t>Streamlit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4818888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  <a:latin typeface="Aptos Display"/>
              </a:rPr>
              <a:t>Interactive dashboard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75320" y="4251960"/>
            <a:ext cx="3429000" cy="1115568"/>
          </a:xfrm>
          <a:prstGeom prst="roundRect">
            <a:avLst/>
          </a:prstGeom>
          <a:solidFill>
            <a:srgbClr val="181F29"/>
          </a:solidFill>
          <a:ln>
            <a:solidFill>
              <a:srgbClr val="343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275320" y="4251960"/>
            <a:ext cx="64008" cy="1115568"/>
          </a:xfrm>
          <a:prstGeom prst="rect">
            <a:avLst/>
          </a:prstGeom>
          <a:solidFill>
            <a:srgbClr val="F5B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503920" y="4453128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1BBC8"/>
                </a:solidFill>
                <a:latin typeface="Aptos"/>
              </a:rPr>
              <a:t>VS Code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4818888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  <a:latin typeface="Aptos Display"/>
              </a:rPr>
              <a:t>Development environment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B1BBC8"/>
                </a:solidFill>
                <a:latin typeface="Aptos"/>
              </a:rPr>
              <a:t>HARIVATHANI A  •  Smart Agriculture Analytics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6. System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920240"/>
            <a:ext cx="1645920" cy="1920240"/>
          </a:xfrm>
          <a:prstGeom prst="roundRect">
            <a:avLst/>
          </a:prstGeom>
          <a:solidFill>
            <a:srgbClr val="181F29"/>
          </a:solidFill>
          <a:ln>
            <a:solidFill>
              <a:srgbClr val="343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920240"/>
            <a:ext cx="64008" cy="1920240"/>
          </a:xfrm>
          <a:prstGeom prst="rect">
            <a:avLst/>
          </a:prstGeom>
          <a:solidFill>
            <a:srgbClr val="39B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121408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1BBC8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87168"/>
            <a:ext cx="1234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  <a:latin typeface="Aptos Display"/>
              </a:rPr>
              <a:t>Agricultural Data</a:t>
            </a:r>
          </a:p>
        </p:txBody>
      </p:sp>
      <p:sp>
        <p:nvSpPr>
          <p:cNvPr id="8" name="Chevron 7"/>
          <p:cNvSpPr/>
          <p:nvPr/>
        </p:nvSpPr>
        <p:spPr>
          <a:xfrm>
            <a:off x="2258568" y="2606040"/>
            <a:ext cx="256032" cy="502920"/>
          </a:xfrm>
          <a:prstGeom prst="chevron">
            <a:avLst/>
          </a:prstGeom>
          <a:solidFill>
            <a:srgbClr val="B1B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514600" y="1920240"/>
            <a:ext cx="1645920" cy="1920240"/>
          </a:xfrm>
          <a:prstGeom prst="roundRect">
            <a:avLst/>
          </a:prstGeom>
          <a:solidFill>
            <a:srgbClr val="181F29"/>
          </a:solidFill>
          <a:ln>
            <a:solidFill>
              <a:srgbClr val="343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514600" y="1920240"/>
            <a:ext cx="64008" cy="1920240"/>
          </a:xfrm>
          <a:prstGeom prst="rect">
            <a:avLst/>
          </a:prstGeom>
          <a:solidFill>
            <a:srgbClr val="4D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0" y="2121408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1BBC8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487168"/>
            <a:ext cx="1234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  <a:latin typeface="Aptos Display"/>
              </a:rPr>
              <a:t>Cleaning</a:t>
            </a:r>
          </a:p>
        </p:txBody>
      </p:sp>
      <p:sp>
        <p:nvSpPr>
          <p:cNvPr id="13" name="Chevron 12"/>
          <p:cNvSpPr/>
          <p:nvPr/>
        </p:nvSpPr>
        <p:spPr>
          <a:xfrm>
            <a:off x="4178808" y="2606040"/>
            <a:ext cx="256032" cy="502920"/>
          </a:xfrm>
          <a:prstGeom prst="chevron">
            <a:avLst/>
          </a:prstGeom>
          <a:solidFill>
            <a:srgbClr val="B1B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434840" y="1920240"/>
            <a:ext cx="1645920" cy="1920240"/>
          </a:xfrm>
          <a:prstGeom prst="roundRect">
            <a:avLst/>
          </a:prstGeom>
          <a:solidFill>
            <a:srgbClr val="181F29"/>
          </a:solidFill>
          <a:ln>
            <a:solidFill>
              <a:srgbClr val="343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34840" y="1920240"/>
            <a:ext cx="64008" cy="1920240"/>
          </a:xfrm>
          <a:prstGeom prst="rect">
            <a:avLst/>
          </a:prstGeom>
          <a:solidFill>
            <a:srgbClr val="F5B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2121408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1BBC8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487168"/>
            <a:ext cx="1234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  <a:latin typeface="Aptos Display"/>
              </a:rPr>
              <a:t>EDA</a:t>
            </a:r>
          </a:p>
        </p:txBody>
      </p:sp>
      <p:sp>
        <p:nvSpPr>
          <p:cNvPr id="18" name="Chevron 17"/>
          <p:cNvSpPr/>
          <p:nvPr/>
        </p:nvSpPr>
        <p:spPr>
          <a:xfrm>
            <a:off x="6099048" y="2606040"/>
            <a:ext cx="256032" cy="502920"/>
          </a:xfrm>
          <a:prstGeom prst="chevron">
            <a:avLst/>
          </a:prstGeom>
          <a:solidFill>
            <a:srgbClr val="B1B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55080" y="1920240"/>
            <a:ext cx="1645920" cy="1920240"/>
          </a:xfrm>
          <a:prstGeom prst="roundRect">
            <a:avLst/>
          </a:prstGeom>
          <a:solidFill>
            <a:srgbClr val="181F29"/>
          </a:solidFill>
          <a:ln>
            <a:solidFill>
              <a:srgbClr val="343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55080" y="1920240"/>
            <a:ext cx="64008" cy="1920240"/>
          </a:xfrm>
          <a:prstGeom prst="rect">
            <a:avLst/>
          </a:prstGeom>
          <a:solidFill>
            <a:srgbClr val="39B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2121408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1BBC8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487168"/>
            <a:ext cx="1234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  <a:latin typeface="Aptos Display"/>
              </a:rPr>
              <a:t>SQLite + SQL</a:t>
            </a:r>
          </a:p>
        </p:txBody>
      </p:sp>
      <p:sp>
        <p:nvSpPr>
          <p:cNvPr id="23" name="Chevron 22"/>
          <p:cNvSpPr/>
          <p:nvPr/>
        </p:nvSpPr>
        <p:spPr>
          <a:xfrm>
            <a:off x="8019288" y="2606040"/>
            <a:ext cx="256032" cy="502920"/>
          </a:xfrm>
          <a:prstGeom prst="chevron">
            <a:avLst/>
          </a:prstGeom>
          <a:solidFill>
            <a:srgbClr val="B1B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75320" y="1920240"/>
            <a:ext cx="1645920" cy="1920240"/>
          </a:xfrm>
          <a:prstGeom prst="roundRect">
            <a:avLst/>
          </a:prstGeom>
          <a:solidFill>
            <a:srgbClr val="181F29"/>
          </a:solidFill>
          <a:ln>
            <a:solidFill>
              <a:srgbClr val="343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75320" y="1920240"/>
            <a:ext cx="64008" cy="1920240"/>
          </a:xfrm>
          <a:prstGeom prst="rect">
            <a:avLst/>
          </a:prstGeom>
          <a:solidFill>
            <a:srgbClr val="4D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03920" y="2121408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1BBC8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2487168"/>
            <a:ext cx="1234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  <a:latin typeface="Aptos Display"/>
              </a:rPr>
              <a:t>Machine Learning</a:t>
            </a:r>
          </a:p>
        </p:txBody>
      </p:sp>
      <p:sp>
        <p:nvSpPr>
          <p:cNvPr id="28" name="Chevron 27"/>
          <p:cNvSpPr/>
          <p:nvPr/>
        </p:nvSpPr>
        <p:spPr>
          <a:xfrm>
            <a:off x="9939528" y="2606040"/>
            <a:ext cx="256032" cy="502920"/>
          </a:xfrm>
          <a:prstGeom prst="chevron">
            <a:avLst/>
          </a:prstGeom>
          <a:solidFill>
            <a:srgbClr val="B1B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195560" y="1920240"/>
            <a:ext cx="1645920" cy="1920240"/>
          </a:xfrm>
          <a:prstGeom prst="roundRect">
            <a:avLst/>
          </a:prstGeom>
          <a:solidFill>
            <a:srgbClr val="181F29"/>
          </a:solidFill>
          <a:ln>
            <a:solidFill>
              <a:srgbClr val="343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195560" y="1920240"/>
            <a:ext cx="64008" cy="1920240"/>
          </a:xfrm>
          <a:prstGeom prst="rect">
            <a:avLst/>
          </a:prstGeom>
          <a:solidFill>
            <a:srgbClr val="F5B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424160" y="2121408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1BBC8"/>
                </a:solidFill>
                <a:latin typeface="Apto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2487168"/>
            <a:ext cx="1234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  <a:latin typeface="Aptos Display"/>
              </a:rPr>
              <a:t>Streamlit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6634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F5F7FA"/>
                </a:solidFill>
                <a:latin typeface="Aptos"/>
              </a:rPr>
              <a:t>Data Preparation  →  Analysis  →  Database  →  ML Models  →  Interactive Insights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B1BBC8"/>
                </a:solidFill>
                <a:latin typeface="Aptos"/>
              </a:rPr>
              <a:t>HARIVATHANI A  •  Smart Agriculture Analytics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7. Dataset Description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2743200" cy="1417320"/>
          </a:xfrm>
          <a:prstGeom prst="roundRect">
            <a:avLst/>
          </a:prstGeom>
          <a:solidFill>
            <a:srgbClr val="181F29"/>
          </a:solidFill>
          <a:ln>
            <a:solidFill>
              <a:srgbClr val="343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64008" cy="1417320"/>
          </a:xfrm>
          <a:prstGeom prst="rect">
            <a:avLst/>
          </a:prstGeom>
          <a:solidFill>
            <a:srgbClr val="39B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27048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1BBC8"/>
                </a:solidFill>
                <a:latin typeface="Aptos"/>
              </a:rPr>
              <a:t>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2331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  <a:latin typeface="Aptos Display"/>
              </a:rPr>
              <a:t>5,000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325880"/>
            <a:ext cx="2743200" cy="1417320"/>
          </a:xfrm>
          <a:prstGeom prst="roundRect">
            <a:avLst/>
          </a:prstGeom>
          <a:solidFill>
            <a:srgbClr val="181F29"/>
          </a:solidFill>
          <a:ln>
            <a:solidFill>
              <a:srgbClr val="343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703320" y="1325880"/>
            <a:ext cx="64008" cy="1417320"/>
          </a:xfrm>
          <a:prstGeom prst="rect">
            <a:avLst/>
          </a:prstGeom>
          <a:solidFill>
            <a:srgbClr val="4D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31920" y="1527048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1BBC8"/>
                </a:solidFill>
                <a:latin typeface="Aptos"/>
              </a:rPr>
              <a:t>STATES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892807"/>
            <a:ext cx="2331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  <a:latin typeface="Aptos Display"/>
              </a:rPr>
              <a:t>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1325880"/>
            <a:ext cx="2743200" cy="1417320"/>
          </a:xfrm>
          <a:prstGeom prst="roundRect">
            <a:avLst/>
          </a:prstGeom>
          <a:solidFill>
            <a:srgbClr val="181F29"/>
          </a:solidFill>
          <a:ln>
            <a:solidFill>
              <a:srgbClr val="343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720840" y="1325880"/>
            <a:ext cx="64008" cy="1417320"/>
          </a:xfrm>
          <a:prstGeom prst="rect">
            <a:avLst/>
          </a:prstGeom>
          <a:solidFill>
            <a:srgbClr val="F5B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0" y="1527048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1BBC8"/>
                </a:solidFill>
                <a:latin typeface="Aptos"/>
              </a:rPr>
              <a:t>CROP TYPES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892807"/>
            <a:ext cx="2331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  <a:latin typeface="Aptos Display"/>
              </a:rPr>
              <a:t>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38360" y="1325880"/>
            <a:ext cx="1828800" cy="1417320"/>
          </a:xfrm>
          <a:prstGeom prst="roundRect">
            <a:avLst/>
          </a:prstGeom>
          <a:solidFill>
            <a:srgbClr val="181F29"/>
          </a:solidFill>
          <a:ln>
            <a:solidFill>
              <a:srgbClr val="343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738360" y="1325880"/>
            <a:ext cx="64008" cy="1417320"/>
          </a:xfrm>
          <a:prstGeom prst="rect">
            <a:avLst/>
          </a:prstGeom>
          <a:solidFill>
            <a:srgbClr val="39B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966960" y="1527048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1BBC8"/>
                </a:solidFill>
                <a:latin typeface="Aptos"/>
              </a:rPr>
              <a:t>SEASONS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1892807"/>
            <a:ext cx="1417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  <a:latin typeface="Aptos Display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108960"/>
            <a:ext cx="1069848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Agricultural, environmental, soil, management, production and financial attributes.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Key variables include rainfall, temperature, humidity, N/P/K, soil pH, irrigation, fertilizer, pesticide, area, production, yield, market price and revenue.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Cleaned data is reused across EDA, SQL analytics and machine learning.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B1BBC8"/>
                </a:solidFill>
                <a:latin typeface="Aptos"/>
              </a:rPr>
              <a:t>HARIVATHANI A  •  Smart Agriculture Analytics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8. Exploratory Data Analysis</a:t>
            </a:r>
          </a:p>
        </p:txBody>
      </p:sp>
      <p:pic>
        <p:nvPicPr>
          <p:cNvPr id="4" name="Picture 3" descr="Screenshot 2026-09-25 0829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5532120" cy="2922743"/>
          </a:xfrm>
          <a:prstGeom prst="rect">
            <a:avLst/>
          </a:prstGeom>
        </p:spPr>
      </p:pic>
      <p:pic>
        <p:nvPicPr>
          <p:cNvPr id="5" name="Picture 4" descr="Screenshot 2026-09-25 0829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34440"/>
            <a:ext cx="5532120" cy="24693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8978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B1BBC8"/>
                </a:solidFill>
                <a:latin typeface="Aptos"/>
              </a:rPr>
              <a:t>Production, yield, state and seasonal patterns are visualized for analytical interpretation.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B1BBC8"/>
                </a:solidFill>
                <a:latin typeface="Aptos"/>
              </a:rPr>
              <a:t>HARIVATHANI A  •  Smart Agriculture Analytics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9. Analytical Insights</a:t>
            </a:r>
          </a:p>
        </p:txBody>
      </p:sp>
      <p:pic>
        <p:nvPicPr>
          <p:cNvPr id="4" name="Picture 3" descr="Screenshot 2026-09-25 0829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5303520" cy="2396065"/>
          </a:xfrm>
          <a:prstGeom prst="rect">
            <a:avLst/>
          </a:prstGeom>
        </p:spPr>
      </p:pic>
      <p:pic>
        <p:nvPicPr>
          <p:cNvPr id="5" name="Picture 4" descr="Screenshot 2026-09-25 0830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25880"/>
            <a:ext cx="5303520" cy="26630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212080"/>
            <a:ext cx="106984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5F7FA"/>
                </a:solidFill>
                <a:latin typeface="Aptos"/>
              </a:defRPr>
            </a:pPr>
            <a:r>
              <a:t>• Irrigation categories can be compared using average yield.</a:t>
            </a:r>
          </a:p>
          <a:p>
            <a:pPr>
              <a:spcAft>
                <a:spcPts val="1000"/>
              </a:spcAft>
              <a:defRPr sz="1300">
                <a:solidFill>
                  <a:srgbClr val="F5F7FA"/>
                </a:solidFill>
                <a:latin typeface="Aptos"/>
              </a:defRPr>
            </a:pPr>
            <a:r>
              <a:t>• Crop performance combines production, average yield and revenue.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B1BBC8"/>
                </a:solidFill>
                <a:latin typeface="Aptos"/>
              </a:rPr>
              <a:t>HARIVATHANI A  •  Smart Agriculture Analytics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10. Database &amp; SQL Analytics</a:t>
            </a:r>
          </a:p>
        </p:txBody>
      </p:sp>
      <p:pic>
        <p:nvPicPr>
          <p:cNvPr id="4" name="Picture 3" descr="Screenshot 2026-09-25 0832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6400800" cy="25103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69480" y="1508760"/>
            <a:ext cx="416052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t>• SQLite database stores the agricultural records and summary tables.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t>• 25 analytical SQL queries cover KPIs, crop, state, season and irrigation analysis.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t>• Results are exported to agriculture_sql_analysis.xlsx.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t>• Dashboard allows users to select and download SQL analysis.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B1BBC8"/>
                </a:solidFill>
                <a:latin typeface="Aptos"/>
              </a:rPr>
              <a:t>HARIVATHANI A  •  Smart Agriculture Analytics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11. Machine Learning Methodology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5257800" cy="4251960"/>
          </a:xfrm>
          <a:prstGeom prst="roundRect">
            <a:avLst/>
          </a:prstGeom>
          <a:solidFill>
            <a:srgbClr val="181F29"/>
          </a:solidFill>
          <a:ln>
            <a:solidFill>
              <a:srgbClr val="343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981" y="1378457"/>
            <a:ext cx="64008" cy="4251960"/>
          </a:xfrm>
          <a:prstGeom prst="rect">
            <a:avLst/>
          </a:prstGeom>
          <a:solidFill>
            <a:srgbClr val="39B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18488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1BBC8"/>
                </a:solidFill>
                <a:latin typeface="Aptos"/>
              </a:rPr>
              <a:t>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84248"/>
            <a:ext cx="4846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  <a:latin typeface="Aptos Display"/>
              </a:rPr>
              <a:t>Crop 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06611"/>
            <a:ext cx="470916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rPr dirty="0"/>
              <a:t>• Algorithm: Random Forest Classifier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rPr dirty="0"/>
              <a:t>• Inputs: N, P, K, temperature, humidity, rainfall, pH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rPr dirty="0"/>
              <a:t>• Output: Recommended crop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rPr dirty="0"/>
              <a:t>• Saved model: </a:t>
            </a:r>
            <a:r>
              <a:rPr dirty="0" err="1"/>
              <a:t>crop_recommendation_model.pkl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57800" cy="4251960"/>
          </a:xfrm>
          <a:prstGeom prst="roundRect">
            <a:avLst/>
          </a:prstGeom>
          <a:solidFill>
            <a:srgbClr val="181F29"/>
          </a:solidFill>
          <a:ln>
            <a:solidFill>
              <a:srgbClr val="343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64008" cy="4251960"/>
          </a:xfrm>
          <a:prstGeom prst="rect">
            <a:avLst/>
          </a:prstGeom>
          <a:solidFill>
            <a:srgbClr val="4D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618488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1BBC8"/>
                </a:solidFill>
                <a:latin typeface="Aptos"/>
              </a:rPr>
              <a:t>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84248"/>
            <a:ext cx="4846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  <a:latin typeface="Aptos Display"/>
              </a:rPr>
              <a:t>Yield Prediction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690050"/>
            <a:ext cx="470916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rPr dirty="0"/>
              <a:t>• Algorithm: Random Forest Regressor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rPr dirty="0"/>
              <a:t>• Inputs: area, weather, soil, fertilizer, pesticide, price, crop, season, irrigation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rPr dirty="0"/>
              <a:t>• Output: Yield in tons/hectare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rPr dirty="0"/>
              <a:t>• Saved model: </a:t>
            </a:r>
            <a:r>
              <a:rPr dirty="0" err="1"/>
              <a:t>yield_prediction_model.pkl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B1BBC8"/>
                </a:solidFill>
                <a:latin typeface="Aptos"/>
              </a:rPr>
              <a:t>HARIVATHANI A  •  Smart Agriculture Analytics  •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12. Crop Recommendation</a:t>
            </a:r>
          </a:p>
        </p:txBody>
      </p:sp>
      <p:pic>
        <p:nvPicPr>
          <p:cNvPr id="4" name="Picture 3" descr="Screenshot 2026-09-25 0832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6629400" cy="38856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06640" y="1463040"/>
            <a:ext cx="3977639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t>• User enters soil and environmental conditions.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t>• The trained Random Forest classifier processes the inputs.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t>• The application returns a predicted crop category.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t>• Confusion matrix and feature-importance outputs support model analysis.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B1BBC8"/>
                </a:solidFill>
                <a:latin typeface="Aptos"/>
              </a:rPr>
              <a:t>HARIVATHANI A  •  Smart Agriculture Analytics  •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13. Yield Prediction</a:t>
            </a:r>
          </a:p>
        </p:txBody>
      </p:sp>
      <p:pic>
        <p:nvPicPr>
          <p:cNvPr id="4" name="Picture 3" descr="Screenshot 2026-09-25 0832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858000" cy="34142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3800" y="1463040"/>
            <a:ext cx="388620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t>• User provides agricultural, soil, environmental and market inputs.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t>• Crop, season and irrigation are included as categorical features.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t>• Random Forest Regression predicts Yield_Tons_Per_Hectare.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t>• Actual-vs-predicted results are generated for model analysis.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B1BBC8"/>
                </a:solidFill>
                <a:latin typeface="Aptos"/>
              </a:rPr>
              <a:t>HARIVATHANI A  •  Smart Agriculture Analytics  •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14. Streamlit Dashboard</a:t>
            </a:r>
          </a:p>
        </p:txBody>
      </p:sp>
      <p:pic>
        <p:nvPicPr>
          <p:cNvPr id="4" name="Picture 3" descr="Screenshot 2026-09-25 0944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11201400" cy="50169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B1BBC8"/>
                </a:solidFill>
                <a:latin typeface="Aptos"/>
              </a:rPr>
              <a:t>HARIVATHANI A  •  Smart Agriculture Analytics  •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15.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2560320" cy="1463040"/>
          </a:xfrm>
          <a:prstGeom prst="roundRect">
            <a:avLst/>
          </a:prstGeom>
          <a:solidFill>
            <a:srgbClr val="181F29"/>
          </a:solidFill>
          <a:ln>
            <a:solidFill>
              <a:srgbClr val="343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64008" cy="1463040"/>
          </a:xfrm>
          <a:prstGeom prst="rect">
            <a:avLst/>
          </a:prstGeom>
          <a:solidFill>
            <a:srgbClr val="39B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27048"/>
            <a:ext cx="2148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1BBC8"/>
                </a:solidFill>
                <a:latin typeface="Aptos"/>
              </a:rPr>
              <a:t>TOTAL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92807"/>
            <a:ext cx="21488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  <a:latin typeface="Aptos Display"/>
              </a:rPr>
              <a:t>5,000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325880"/>
            <a:ext cx="2560320" cy="1463040"/>
          </a:xfrm>
          <a:prstGeom prst="roundRect">
            <a:avLst/>
          </a:prstGeom>
          <a:solidFill>
            <a:srgbClr val="181F29"/>
          </a:solidFill>
          <a:ln>
            <a:solidFill>
              <a:srgbClr val="343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37560" y="1325880"/>
            <a:ext cx="64008" cy="1463040"/>
          </a:xfrm>
          <a:prstGeom prst="rect">
            <a:avLst/>
          </a:prstGeom>
          <a:solidFill>
            <a:srgbClr val="4D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66160" y="1527048"/>
            <a:ext cx="2148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1BBC8"/>
                </a:solidFill>
                <a:latin typeface="Aptos"/>
              </a:rPr>
              <a:t>PRODUCTION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892807"/>
            <a:ext cx="21488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  <a:latin typeface="Aptos Display"/>
              </a:rPr>
              <a:t>1,211,816 Tons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325880"/>
            <a:ext cx="2560320" cy="1463040"/>
          </a:xfrm>
          <a:prstGeom prst="roundRect">
            <a:avLst/>
          </a:prstGeom>
          <a:solidFill>
            <a:srgbClr val="181F29"/>
          </a:solidFill>
          <a:ln>
            <a:solidFill>
              <a:srgbClr val="343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80760" y="1325880"/>
            <a:ext cx="64008" cy="1463040"/>
          </a:xfrm>
          <a:prstGeom prst="rect">
            <a:avLst/>
          </a:prstGeom>
          <a:solidFill>
            <a:srgbClr val="F5B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1527048"/>
            <a:ext cx="2148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1BBC8"/>
                </a:solidFill>
                <a:latin typeface="Aptos"/>
              </a:rPr>
              <a:t>AVERAGE YIELD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892807"/>
            <a:ext cx="21488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  <a:latin typeface="Aptos Display"/>
              </a:rPr>
              <a:t>4.80 T/Ha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325880"/>
            <a:ext cx="2560320" cy="1463040"/>
          </a:xfrm>
          <a:prstGeom prst="roundRect">
            <a:avLst/>
          </a:prstGeom>
          <a:solidFill>
            <a:srgbClr val="181F29"/>
          </a:solidFill>
          <a:ln>
            <a:solidFill>
              <a:srgbClr val="343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823960" y="1325880"/>
            <a:ext cx="64008" cy="1463040"/>
          </a:xfrm>
          <a:prstGeom prst="rect">
            <a:avLst/>
          </a:prstGeom>
          <a:solidFill>
            <a:srgbClr val="39B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52560" y="1527048"/>
            <a:ext cx="2148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1BBC8"/>
                </a:solidFill>
                <a:latin typeface="Aptos"/>
              </a:rPr>
              <a:t>TOTAL 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1892807"/>
            <a:ext cx="21488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  <a:latin typeface="Aptos Display"/>
              </a:rPr>
              <a:t>₹3.59B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246120"/>
            <a:ext cx="1069848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The system successfully combines data preparation, visualization, SQL analytics and machine learning.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The dashboard provides a single interface for analysis, recommendation, prediction and dataset exploration.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Generated charts and serialized models are available as reusable project artifacts.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B1BBC8"/>
                </a:solidFill>
                <a:latin typeface="Aptos"/>
              </a:rPr>
              <a:t>HARIVATHANI A  •  Smart Agriculture Analytics  •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16. Conclusion &amp; Future Enhancements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257800" cy="4343400"/>
          </a:xfrm>
          <a:prstGeom prst="roundRect">
            <a:avLst/>
          </a:prstGeom>
          <a:solidFill>
            <a:srgbClr val="181F29"/>
          </a:solidFill>
          <a:ln>
            <a:solidFill>
              <a:srgbClr val="343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64008" cy="4343400"/>
          </a:xfrm>
          <a:prstGeom prst="rect">
            <a:avLst/>
          </a:prstGeom>
          <a:solidFill>
            <a:srgbClr val="39B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27048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1BBC8"/>
                </a:solidFill>
                <a:latin typeface="Aptos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4846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  <a:latin typeface="Aptos Display"/>
              </a:rPr>
              <a:t>Integrated agricultural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470916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rPr dirty="0"/>
              <a:t>• Successfully developed an end-to-end agriculture analytics platform.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rPr dirty="0"/>
              <a:t>• Integrated Python, SQL, machine learning and </a:t>
            </a:r>
            <a:r>
              <a:rPr dirty="0" err="1"/>
              <a:t>Streamlit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rPr dirty="0"/>
              <a:t>• Implemented crop recommendation and yield prediction.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rPr dirty="0"/>
              <a:t>• Provided interactive analytical views.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257800" cy="4343400"/>
          </a:xfrm>
          <a:prstGeom prst="roundRect">
            <a:avLst/>
          </a:prstGeom>
          <a:solidFill>
            <a:srgbClr val="181F29"/>
          </a:solidFill>
          <a:ln>
            <a:solidFill>
              <a:srgbClr val="343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325880"/>
            <a:ext cx="64008" cy="4343400"/>
          </a:xfrm>
          <a:prstGeom prst="rect">
            <a:avLst/>
          </a:prstGeom>
          <a:solidFill>
            <a:srgbClr val="4D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527048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1BBC8"/>
                </a:solidFill>
                <a:latin typeface="Aptos"/>
              </a:rPr>
              <a:t>FUTURE ENHANCEMENTS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92807"/>
            <a:ext cx="4846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  <a:latin typeface="Aptos Display"/>
              </a:rPr>
              <a:t>Towards smarter agriculture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40888"/>
            <a:ext cx="470916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rPr dirty="0"/>
              <a:t>• Real-time weather API integration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rPr dirty="0"/>
              <a:t>• IoT sensor integration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rPr dirty="0"/>
              <a:t>• Satellite-based crop monitoring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rPr dirty="0"/>
              <a:t>• Disease detection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rPr dirty="0"/>
              <a:t>• Fertilizer / irrigation recommendations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rPr dirty="0"/>
              <a:t>• Cloud and mobile 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B1BBC8"/>
                </a:solidFill>
                <a:latin typeface="Aptos"/>
              </a:rPr>
              <a:t>HARIVATHANI A  •  Smart Agriculture Analytics  •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4438" y="2671762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 dirty="0">
                <a:solidFill>
                  <a:srgbClr val="F5F7FA"/>
                </a:solidFill>
                <a:latin typeface="Aptos Display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0525" y="4957762"/>
            <a:ext cx="1050417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F5F7FA"/>
                </a:solidFill>
                <a:latin typeface="Aptos"/>
              </a:rPr>
              <a:t>HARIVATHANI A</a:t>
            </a:r>
          </a:p>
          <a:p>
            <a:pPr algn="ctr"/>
            <a:r>
              <a:rPr sz="1300" b="0" dirty="0">
                <a:solidFill>
                  <a:srgbClr val="B1BBC8"/>
                </a:solidFill>
                <a:latin typeface="Aptos"/>
              </a:rPr>
              <a:t>MSc Computer Science</a:t>
            </a:r>
          </a:p>
          <a:p>
            <a:pPr algn="ctr"/>
            <a:r>
              <a:rPr sz="1300" b="0" dirty="0">
                <a:solidFill>
                  <a:srgbClr val="F5BE37"/>
                </a:solidFill>
                <a:latin typeface="Aptos"/>
              </a:rPr>
              <a:t>Madurai Kamaraj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1009</Words>
  <Application>Microsoft Office PowerPoint</Application>
  <PresentationFormat>Widescreen</PresentationFormat>
  <Paragraphs>168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Harivathani A</cp:lastModifiedBy>
  <cp:revision>2</cp:revision>
  <dcterms:created xsi:type="dcterms:W3CDTF">2013-01-27T09:14:16Z</dcterms:created>
  <dcterms:modified xsi:type="dcterms:W3CDTF">2026-09-25T10:46:18Z</dcterms:modified>
  <cp:category/>
</cp:coreProperties>
</file>